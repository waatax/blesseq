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96" r:id="rId5"/>
    <p:sldId id="297" r:id="rId6"/>
    <p:sldId id="306" r:id="rId7"/>
    <p:sldId id="307" r:id="rId8"/>
    <p:sldId id="308" r:id="rId9"/>
    <p:sldId id="285" r:id="rId10"/>
  </p:sldIdLst>
  <p:sldSz cx="9144000" cy="5143500" type="screen16x9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89676" autoAdjust="0"/>
  </p:normalViewPr>
  <p:slideViewPr>
    <p:cSldViewPr>
      <p:cViewPr varScale="1">
        <p:scale>
          <a:sx n="131" d="100"/>
          <a:sy n="131" d="100"/>
        </p:scale>
        <p:origin x="1050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923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LiveId" clId="{93C8ADB4-330D-471A-A25B-176BAA5BA736}"/>
    <pc:docChg chg="custSel modSld">
      <pc:chgData name="Walter Lu" userId="6e55fa501f30df28" providerId="LiveId" clId="{93C8ADB4-330D-471A-A25B-176BAA5BA736}" dt="2024-03-01T06:43:10.254" v="14" actId="1076"/>
      <pc:docMkLst>
        <pc:docMk/>
      </pc:docMkLst>
      <pc:sldChg chg="modSp mod">
        <pc:chgData name="Walter Lu" userId="6e55fa501f30df28" providerId="LiveId" clId="{93C8ADB4-330D-471A-A25B-176BAA5BA736}" dt="2024-03-01T06:42:32.641" v="1" actId="1076"/>
        <pc:sldMkLst>
          <pc:docMk/>
          <pc:sldMk cId="3813290433" sldId="256"/>
        </pc:sldMkLst>
        <pc:spChg chg="mod">
          <ac:chgData name="Walter Lu" userId="6e55fa501f30df28" providerId="LiveId" clId="{93C8ADB4-330D-471A-A25B-176BAA5BA736}" dt="2024-03-01T06:42:32.641" v="1" actId="1076"/>
          <ac:spMkLst>
            <pc:docMk/>
            <pc:sldMk cId="3813290433" sldId="256"/>
            <ac:spMk id="2" creationId="{00000000-0000-0000-0000-000000000000}"/>
          </ac:spMkLst>
        </pc:spChg>
      </pc:sldChg>
      <pc:sldChg chg="modSp mod">
        <pc:chgData name="Walter Lu" userId="6e55fa501f30df28" providerId="LiveId" clId="{93C8ADB4-330D-471A-A25B-176BAA5BA736}" dt="2024-03-01T06:43:00.095" v="12" actId="1076"/>
        <pc:sldMkLst>
          <pc:docMk/>
          <pc:sldMk cId="2067297805" sldId="257"/>
        </pc:sldMkLst>
        <pc:spChg chg="mod">
          <ac:chgData name="Walter Lu" userId="6e55fa501f30df28" providerId="LiveId" clId="{93C8ADB4-330D-471A-A25B-176BAA5BA736}" dt="2024-03-01T06:42:43.956" v="5" actId="27636"/>
          <ac:spMkLst>
            <pc:docMk/>
            <pc:sldMk cId="2067297805" sldId="257"/>
            <ac:spMk id="2" creationId="{00000000-0000-0000-0000-000000000000}"/>
          </ac:spMkLst>
        </pc:spChg>
        <pc:spChg chg="mod">
          <ac:chgData name="Walter Lu" userId="6e55fa501f30df28" providerId="LiveId" clId="{93C8ADB4-330D-471A-A25B-176BAA5BA736}" dt="2024-03-01T06:43:00.095" v="12" actId="1076"/>
          <ac:spMkLst>
            <pc:docMk/>
            <pc:sldMk cId="2067297805" sldId="257"/>
            <ac:spMk id="3" creationId="{00000000-0000-0000-0000-000000000000}"/>
          </ac:spMkLst>
        </pc:spChg>
      </pc:sldChg>
      <pc:sldChg chg="modSp mod">
        <pc:chgData name="Walter Lu" userId="6e55fa501f30df28" providerId="LiveId" clId="{93C8ADB4-330D-471A-A25B-176BAA5BA736}" dt="2024-03-01T06:43:10.254" v="14" actId="1076"/>
        <pc:sldMkLst>
          <pc:docMk/>
          <pc:sldMk cId="413485587" sldId="259"/>
        </pc:sldMkLst>
        <pc:spChg chg="mod">
          <ac:chgData name="Walter Lu" userId="6e55fa501f30df28" providerId="LiveId" clId="{93C8ADB4-330D-471A-A25B-176BAA5BA736}" dt="2024-03-01T06:43:10.254" v="14" actId="1076"/>
          <ac:spMkLst>
            <pc:docMk/>
            <pc:sldMk cId="413485587" sldId="259"/>
            <ac:spMk id="2" creationId="{00000000-0000-0000-0000-000000000000}"/>
          </ac:spMkLst>
        </pc:spChg>
        <pc:spChg chg="mod">
          <ac:chgData name="Walter Lu" userId="6e55fa501f30df28" providerId="LiveId" clId="{93C8ADB4-330D-471A-A25B-176BAA5BA736}" dt="2024-03-01T06:43:06.255" v="13" actId="1076"/>
          <ac:spMkLst>
            <pc:docMk/>
            <pc:sldMk cId="413485587" sldId="25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C692F-E1A4-4F0C-A9FF-9A199B17975F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45005-DE79-4A96-A2B0-91EC196C8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4054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55181-114D-4654-9BA3-307D33827FFE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C1098-7E14-4DB7-86DC-5C1932AB64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986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課程目標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克服邀約的擔心與恐懼，循序漸進，讓邀約不再困難。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排除不成功的因素，增加邀約的成功率。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從一開始的邀約行動中，就在經歷性格改變的操練。</a:t>
            </a:r>
            <a:endParaRPr lang="zh-TW" altLang="zh-TW" sz="1400" kern="1200" dirty="0"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1098-7E14-4DB7-86DC-5C1932AB640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181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 幸福小組中作見證的功效</a:t>
            </a:r>
          </a:p>
          <a:p>
            <a:r>
              <a:rPr lang="en-US" altLang="zh-TW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1. </a:t>
            </a:r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真實的見證，使</a:t>
            </a:r>
            <a:r>
              <a:rPr lang="en-US" altLang="zh-TW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感同身受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見證是累積感動力、使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更靠近神的重要環節。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滿漢全席式的見證令人震憾；家常小菜式的見證引人共嗚，使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感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同身受並自我反思。</a:t>
            </a:r>
          </a:p>
          <a:p>
            <a:r>
              <a:rPr lang="en-US" altLang="zh-TW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 </a:t>
            </a:r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讓</a:t>
            </a:r>
            <a:r>
              <a:rPr lang="en-US" altLang="zh-TW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渴慕 經歷上帝</a:t>
            </a:r>
          </a:p>
          <a:p>
            <a:r>
              <a:rPr lang="en-US" altLang="zh-TW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3. </a:t>
            </a:r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作為主題信息的 前導 或 呼應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因為見證跟信息會排在一起，我們可以搭配當週信息主題來安排每週見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證的內容，它可以做為進入信息前的暖身，提高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接下來聽信息的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興趣，或用來加深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對信息的印象。</a:t>
            </a:r>
          </a:p>
          <a:p>
            <a:r>
              <a:rPr lang="en-US" altLang="zh-TW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4. </a:t>
            </a:r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激勵同工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在幸福小組講見證的時候，除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之外，同工也會聽到這些見證，他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們會再一次被神的愛感動，信心會被提升起來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</a:t>
            </a:r>
          </a:p>
          <a:p>
            <a:r>
              <a:rPr lang="en-US" altLang="zh-TW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5. </a:t>
            </a:r>
            <a:r>
              <a:rPr lang="zh-TW" altLang="en-US" sz="1400" b="1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見證者信心得以 堅固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見證者自己最蒙福，因信心會被提升。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講見證就是屬算恩典的具體行動，讓恩典越數越多。</a:t>
            </a:r>
            <a:endParaRPr lang="zh-TW" altLang="en-US" sz="1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1098-7E14-4DB7-86DC-5C1932AB640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833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1.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得救見證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在幸福小組中，每一位同工都會需要分享自己的得救見證。這個對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於剛受洗的基督徒並不困難，他們都寫得出來。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比較麻煩的是老基督徒，因為年代久遠，而且因為不常講自己的得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救見證，都忘了自己是怎麼得救的。我們需要求聖靈幫助，喚回我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們的記憶，把自己是如何得救的過程記錄下來，在幸福小組裏常常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講，越講就會越感恩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身心靈得醫治的見證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包括身體上，或者是心靈被神醫治的經歷，都可以分享。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【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講師請預備一個相關的見證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】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3.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關係修復（饒恕）的見證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很多人在家庭關係或人際關係之間，都有受挫的經歷，不管是關係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冷漠的，或是被傷害的，還是傷害人的，很需要神的大能來恢復，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而我們的信仰，是一個以關係和好，以愛為本質的信仰。像這類的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見證，很容易引起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共鳴，使他們反思自己的狀況。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【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講師請預備一個相關的見證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】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4.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個人價值觀、性格、習慣轉變的見證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人說江山易改、本性難移，所以人的性格或習慣能夠被神改變，就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是最有力的見證，會讓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best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覺得有盼望。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如戒煙、戒賭、戒酒、戒色等。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【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講師請預備一個相關的見證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】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5.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職場或經濟物質上得祝福的見證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【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講師請預備一個相關的見證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】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6.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急難中得到上帝幫助的見證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這類見證是分享在最窘迫無力的時刻，神所賜下的及時雨。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【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講師請預備一個相關的見證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】</a:t>
            </a:r>
          </a:p>
          <a:p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7.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各類生活禱告蒙應允的見證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生活中有好多事情都可以數算恩典，都可以見證神的愛、神的供應和能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力。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簡單舉例即可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</a:p>
          <a:p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小結論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 </a:t>
            </a:r>
            <a:r>
              <a:rPr lang="zh-TW" altLang="en-US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見證越數算越多，越新鮮越好</a:t>
            </a:r>
            <a:r>
              <a:rPr lang="en-US" altLang="zh-TW" sz="1400" b="0" i="0" u="none" strike="noStrike" kern="12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!</a:t>
            </a:r>
            <a:endParaRPr lang="zh-TW" altLang="en-US" sz="1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1098-7E14-4DB7-86DC-5C1932AB640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833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1098-7E14-4DB7-86DC-5C1932AB640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83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1098-7E14-4DB7-86DC-5C1932AB640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833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1098-7E14-4DB7-86DC-5C1932AB640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833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C1098-7E14-4DB7-86DC-5C1932AB640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83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400300"/>
            <a:ext cx="7543800" cy="1143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543300"/>
            <a:ext cx="6858000" cy="74295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457450"/>
            <a:ext cx="7543800" cy="12573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3714750"/>
            <a:ext cx="6858000" cy="6858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996948"/>
            <a:ext cx="3657600" cy="2286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996948"/>
            <a:ext cx="3657600" cy="2286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937022"/>
            <a:ext cx="3657600" cy="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937022"/>
            <a:ext cx="3657600" cy="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429000"/>
            <a:ext cx="6784848" cy="120015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342900"/>
            <a:ext cx="4594934" cy="30860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2" y="342900"/>
            <a:ext cx="2673657" cy="30861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153444" y="1885752"/>
            <a:ext cx="28575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3429000"/>
            <a:ext cx="6784848" cy="120015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342900"/>
            <a:ext cx="7543800" cy="21717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2628900"/>
            <a:ext cx="7391400" cy="603647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14350"/>
            <a:ext cx="7239000" cy="2914650"/>
          </a:xfrm>
        </p:spPr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514351"/>
            <a:ext cx="1828800" cy="405764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514351"/>
            <a:ext cx="5715000" cy="3657600"/>
          </a:xfrm>
        </p:spPr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3429000"/>
            <a:ext cx="6781800" cy="120015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514350"/>
            <a:ext cx="7543800" cy="29146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465658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A60509CB-6E3A-4AF3-BD14-28AA283CFDF4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0" y="4656582"/>
            <a:ext cx="487386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4265676"/>
            <a:ext cx="762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CAB8978C-C112-4FE7-894C-CB4933E289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285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1600" y="3363838"/>
            <a:ext cx="8382000" cy="1143000"/>
          </a:xfrm>
        </p:spPr>
        <p:txBody>
          <a:bodyPr anchor="t"/>
          <a:lstStyle/>
          <a:p>
            <a:r>
              <a:rPr lang="zh-TW" altLang="en-US" sz="4800" b="1" dirty="0"/>
              <a:t>如何在幸福小組中作見證？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62000" y="2499742"/>
            <a:ext cx="6858000" cy="742950"/>
          </a:xfrm>
        </p:spPr>
        <p:txBody>
          <a:bodyPr anchor="b">
            <a:normAutofit/>
          </a:bodyPr>
          <a:lstStyle/>
          <a:p>
            <a:r>
              <a:rPr lang="zh-TW" altLang="en-US" sz="3600" b="1" dirty="0">
                <a:latin typeface="+mj-ea"/>
                <a:ea typeface="+mj-ea"/>
              </a:rPr>
              <a:t>第一課</a:t>
            </a:r>
          </a:p>
        </p:txBody>
      </p:sp>
    </p:spTree>
    <p:extLst>
      <p:ext uri="{BB962C8B-B14F-4D97-AF65-F5344CB8AC3E}">
        <p14:creationId xmlns:p14="http://schemas.microsoft.com/office/powerpoint/2010/main" val="381329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483518"/>
            <a:ext cx="6781800" cy="576064"/>
          </a:xfrm>
        </p:spPr>
        <p:txBody>
          <a:bodyPr anchor="t">
            <a:normAutofit fontScale="90000"/>
          </a:bodyPr>
          <a:lstStyle/>
          <a:p>
            <a:r>
              <a:rPr lang="zh-TW" altLang="en-US" sz="3200" b="1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使徒行傳一</a:t>
            </a:r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+mj-ea"/>
              </a:rPr>
              <a:t>8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43608" y="1150429"/>
            <a:ext cx="7543800" cy="255461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zh-TW" altLang="en-US" sz="2800" b="1" dirty="0">
                <a:solidFill>
                  <a:srgbClr val="0000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但聖靈降臨在你們身上，你們就必得著能力。</a:t>
            </a:r>
            <a:endParaRPr lang="en-US" altLang="zh-TW" sz="2800" b="1" dirty="0">
              <a:solidFill>
                <a:srgbClr val="00009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b="1" dirty="0">
                <a:solidFill>
                  <a:srgbClr val="0000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並要在耶路撒冷、猶太全地，和撒馬利亞，</a:t>
            </a:r>
            <a:endParaRPr lang="en-US" altLang="zh-TW" sz="2800" b="1" dirty="0">
              <a:solidFill>
                <a:srgbClr val="00009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b="1" dirty="0">
                <a:solidFill>
                  <a:srgbClr val="0000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直到地極，作我的見證。</a:t>
            </a:r>
          </a:p>
        </p:txBody>
      </p:sp>
    </p:spTree>
    <p:extLst>
      <p:ext uri="{BB962C8B-B14F-4D97-AF65-F5344CB8AC3E}">
        <p14:creationId xmlns:p14="http://schemas.microsoft.com/office/powerpoint/2010/main" val="2067297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49188"/>
            <a:ext cx="8058472" cy="720080"/>
          </a:xfrm>
        </p:spPr>
        <p:txBody>
          <a:bodyPr anchor="t">
            <a:noAutofit/>
          </a:bodyPr>
          <a:lstStyle/>
          <a:p>
            <a:r>
              <a:rPr lang="zh-TW" altLang="en-US" sz="3600" b="1" dirty="0">
                <a:solidFill>
                  <a:srgbClr val="000099"/>
                </a:solidFill>
                <a:latin typeface="+mj-ea"/>
              </a:rPr>
              <a:t>一、幸福小組中作見證的功效</a:t>
            </a:r>
            <a:r>
              <a:rPr lang="en-US" altLang="zh-TW" sz="3600" b="1" dirty="0">
                <a:solidFill>
                  <a:schemeClr val="bg1">
                    <a:lumMod val="95000"/>
                  </a:schemeClr>
                </a:solidFill>
                <a:latin typeface="+mj-ea"/>
              </a:rPr>
              <a:t>.</a:t>
            </a:r>
            <a:endParaRPr lang="zh-TW" altLang="en-US" sz="3600" b="1" dirty="0">
              <a:solidFill>
                <a:schemeClr val="bg1">
                  <a:lumMod val="95000"/>
                </a:schemeClr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275606"/>
            <a:ext cx="7986464" cy="3058666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真實的見證，使</a:t>
            </a: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BEST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　　</a:t>
            </a:r>
            <a:r>
              <a:rPr lang="en-US" altLang="zh-TW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讓</a:t>
            </a: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BEST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渴慕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　　</a:t>
            </a:r>
            <a:r>
              <a:rPr lang="en-US" altLang="zh-TW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作為主題信息的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或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</a:t>
            </a:r>
            <a:r>
              <a:rPr lang="en-US" altLang="zh-TW" sz="3200" b="1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4.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激勵同工</a:t>
            </a:r>
            <a:endParaRPr lang="en-US" altLang="zh-TW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5.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見證者信心得以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</a:t>
            </a:r>
            <a:r>
              <a:rPr lang="en-US" altLang="zh-TW" sz="3200" b="1" dirty="0">
                <a:solidFill>
                  <a:schemeClr val="bg1">
                    <a:lumMod val="85000"/>
                  </a:schemeClr>
                </a:solidFill>
                <a:latin typeface="+mj-ea"/>
              </a:rPr>
              <a:t>.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3851920" y="1275606"/>
            <a:ext cx="4392488" cy="30586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　　　感同身受</a:t>
            </a: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經歷上帝</a:t>
            </a: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前導　　　呼應</a:t>
            </a: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堅固</a:t>
            </a:r>
          </a:p>
        </p:txBody>
      </p:sp>
    </p:spTree>
    <p:extLst>
      <p:ext uri="{BB962C8B-B14F-4D97-AF65-F5344CB8AC3E}">
        <p14:creationId xmlns:p14="http://schemas.microsoft.com/office/powerpoint/2010/main" val="41348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483518"/>
            <a:ext cx="8058472" cy="720080"/>
          </a:xfrm>
        </p:spPr>
        <p:txBody>
          <a:bodyPr anchor="t">
            <a:noAutofit/>
          </a:bodyPr>
          <a:lstStyle/>
          <a:p>
            <a:r>
              <a:rPr lang="zh-TW" altLang="en-US" sz="3600" b="1" dirty="0">
                <a:solidFill>
                  <a:srgbClr val="000099"/>
                </a:solidFill>
                <a:latin typeface="+mj-ea"/>
              </a:rPr>
              <a:t>二、適合在幸福小組中分享的見證</a:t>
            </a:r>
            <a:endParaRPr lang="zh-TW" altLang="en-US" sz="3600" b="1" dirty="0">
              <a:solidFill>
                <a:schemeClr val="bg1">
                  <a:lumMod val="95000"/>
                </a:schemeClr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2000" y="1203598"/>
            <a:ext cx="7986464" cy="3130674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1.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得救見證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2.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身心靈得醫治的見證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3.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關係修復（饒恕）的見證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4.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個人價值觀、性格、習慣轉變的見證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5.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職場或經濟物質上得祝福的見證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6.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急難中得到上帝幫助的見證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7.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各類生活禱告蒙應允的見證</a:t>
            </a:r>
            <a:endParaRPr lang="en-US" altLang="zh-TW" sz="32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9517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483518"/>
            <a:ext cx="8058472" cy="720080"/>
          </a:xfrm>
        </p:spPr>
        <p:txBody>
          <a:bodyPr anchor="t">
            <a:noAutofit/>
          </a:bodyPr>
          <a:lstStyle/>
          <a:p>
            <a:r>
              <a:rPr lang="zh-TW" altLang="en-US" sz="3600" b="1" dirty="0">
                <a:solidFill>
                  <a:srgbClr val="000099"/>
                </a:solidFill>
                <a:latin typeface="+mj-ea"/>
              </a:rPr>
              <a:t>三、如何寫見證與分享？</a:t>
            </a:r>
            <a:endParaRPr lang="zh-TW" altLang="en-US" sz="3600" b="1" dirty="0">
              <a:solidFill>
                <a:schemeClr val="bg1">
                  <a:lumMod val="95000"/>
                </a:schemeClr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2000" y="1275606"/>
            <a:ext cx="7986464" cy="3058666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見證架構與內容比例</a:t>
            </a: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改變前的狀況：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％</a:t>
            </a:r>
            <a:r>
              <a:rPr lang="en-US" altLang="zh-TW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改變的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及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：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％</a:t>
            </a:r>
            <a:r>
              <a:rPr lang="en-US" altLang="zh-TW" sz="3200" b="1" dirty="0">
                <a:solidFill>
                  <a:schemeClr val="bg1">
                    <a:lumMod val="85000"/>
                  </a:schemeClr>
                </a:solidFill>
                <a:latin typeface="+mj-ea"/>
              </a:rPr>
              <a:t>.</a:t>
            </a:r>
            <a:endParaRPr lang="zh-TW" altLang="en-US" sz="32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改變後的狀況：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％</a:t>
            </a:r>
            <a:endParaRPr lang="en-US" altLang="zh-TW" sz="32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2627784" y="1275606"/>
            <a:ext cx="5616624" cy="30586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　　　</a:t>
            </a:r>
            <a:r>
              <a:rPr lang="en-US" altLang="zh-TW" sz="3200" b="1" dirty="0">
                <a:solidFill>
                  <a:srgbClr val="A50021"/>
                </a:solidFill>
                <a:latin typeface="+mj-ea"/>
                <a:ea typeface="+mj-ea"/>
              </a:rPr>
              <a:t>30</a:t>
            </a:r>
            <a:endParaRPr lang="zh-TW" altLang="en-US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關鍵　　過程　　</a:t>
            </a:r>
            <a:r>
              <a:rPr lang="en-US" altLang="zh-TW" sz="3200" b="1" dirty="0">
                <a:solidFill>
                  <a:srgbClr val="A50021"/>
                </a:solidFill>
                <a:latin typeface="+mj-ea"/>
                <a:ea typeface="+mj-ea"/>
              </a:rPr>
              <a:t>40</a:t>
            </a:r>
            <a:endParaRPr lang="zh-TW" altLang="en-US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　　　 </a:t>
            </a:r>
            <a:r>
              <a:rPr lang="en-US" altLang="zh-TW" sz="3200" b="1" dirty="0">
                <a:solidFill>
                  <a:srgbClr val="A50021"/>
                </a:solidFill>
                <a:latin typeface="+mj-ea"/>
                <a:ea typeface="+mj-ea"/>
              </a:rPr>
              <a:t>30</a:t>
            </a:r>
            <a:endParaRPr lang="zh-TW" altLang="en-US" sz="3200" b="1" dirty="0">
              <a:solidFill>
                <a:srgbClr val="A5002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3900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483518"/>
            <a:ext cx="8058472" cy="720080"/>
          </a:xfrm>
        </p:spPr>
        <p:txBody>
          <a:bodyPr anchor="t">
            <a:noAutofit/>
          </a:bodyPr>
          <a:lstStyle/>
          <a:p>
            <a:r>
              <a:rPr lang="zh-TW" altLang="en-US" sz="3600" b="1" dirty="0">
                <a:solidFill>
                  <a:srgbClr val="000099"/>
                </a:solidFill>
                <a:latin typeface="+mj-ea"/>
              </a:rPr>
              <a:t>三、如何寫見證與分享？</a:t>
            </a:r>
            <a:endParaRPr lang="zh-TW" altLang="en-US" sz="3600" b="1" dirty="0">
              <a:solidFill>
                <a:schemeClr val="bg1">
                  <a:lumMod val="95000"/>
                </a:schemeClr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2000" y="1275606"/>
            <a:ext cx="8382000" cy="3058666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在幸福小組中的見證長度：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分鐘以內</a:t>
            </a:r>
            <a:endParaRPr lang="en-US" altLang="zh-TW" sz="32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6084168" y="1275606"/>
            <a:ext cx="1224136" cy="5760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2400"/>
              </a:spcAft>
              <a:buFont typeface="Arial" pitchFamily="34" charset="0"/>
              <a:buNone/>
            </a:pPr>
            <a:r>
              <a:rPr lang="en-US" altLang="zh-TW" sz="3200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295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2000" y="555526"/>
            <a:ext cx="7986464" cy="3778746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預備見證時注意事項</a:t>
            </a: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預備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　</a:t>
            </a:r>
            <a:r>
              <a:rPr lang="en-US" altLang="zh-TW" sz="32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.</a:t>
            </a:r>
            <a:endParaRPr lang="zh-TW" altLang="en-US" sz="32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找細胞小組長或牧者修改、演練</a:t>
            </a: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反覆練習、避免生硬的讀稿</a:t>
            </a:r>
            <a:endParaRPr lang="en-US" altLang="zh-TW" sz="32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2411760" y="555526"/>
            <a:ext cx="5832648" cy="377874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逐字稿</a:t>
            </a:r>
          </a:p>
        </p:txBody>
      </p:sp>
    </p:spTree>
    <p:extLst>
      <p:ext uri="{BB962C8B-B14F-4D97-AF65-F5344CB8AC3E}">
        <p14:creationId xmlns:p14="http://schemas.microsoft.com/office/powerpoint/2010/main" val="372696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2000" y="555526"/>
            <a:ext cx="7986464" cy="3706738"/>
          </a:xfrm>
        </p:spPr>
        <p:txBody>
          <a:bodyPr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4.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分享原則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分享的目的在彰顯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　　　 </a:t>
            </a:r>
            <a:r>
              <a:rPr lang="en-US" altLang="zh-TW" sz="32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講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，別講大道理</a:t>
            </a:r>
            <a:r>
              <a:rPr lang="en-US" altLang="zh-TW" sz="3200" b="1" dirty="0">
                <a:solidFill>
                  <a:schemeClr val="bg1">
                    <a:lumMod val="85000"/>
                  </a:schemeClr>
                </a:solidFill>
                <a:latin typeface="+mj-ea"/>
              </a:rPr>
              <a:t>.</a:t>
            </a:r>
            <a:endParaRPr lang="zh-TW" altLang="en-US" sz="32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是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，不是教導</a:t>
            </a:r>
            <a:endParaRPr lang="en-US" altLang="zh-TW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真誠自然，不加油添醋</a:t>
            </a:r>
            <a:endParaRPr lang="en-US" altLang="zh-TW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有力，不脫稿演出</a:t>
            </a:r>
            <a:endParaRPr lang="en-US" altLang="zh-TW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‧</a:t>
            </a:r>
            <a:r>
              <a:rPr lang="zh-TW" alt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　　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BEST </a:t>
            </a:r>
            <a:r>
              <a: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的反應</a:t>
            </a:r>
            <a:endParaRPr lang="en-US" altLang="zh-TW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1259632" y="555526"/>
            <a:ext cx="7632848" cy="37067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　　　　　　　　上帝的作為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　故事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　分享</a:t>
            </a: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簡潔</a:t>
            </a:r>
            <a:endParaRPr lang="en-US" altLang="zh-TW" sz="3200" b="1" dirty="0">
              <a:solidFill>
                <a:srgbClr val="A50021"/>
              </a:solidFill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zh-TW" altLang="en-US" sz="3200" b="1" dirty="0">
                <a:solidFill>
                  <a:srgbClr val="A50021"/>
                </a:solidFill>
                <a:latin typeface="+mj-ea"/>
                <a:ea typeface="+mj-ea"/>
              </a:rPr>
              <a:t>　關注</a:t>
            </a:r>
          </a:p>
        </p:txBody>
      </p:sp>
    </p:spTree>
    <p:extLst>
      <p:ext uri="{BB962C8B-B14F-4D97-AF65-F5344CB8AC3E}">
        <p14:creationId xmlns:p14="http://schemas.microsoft.com/office/powerpoint/2010/main" val="255356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483518"/>
            <a:ext cx="8274496" cy="72008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TW" altLang="en-US" sz="3600" b="1" dirty="0">
                <a:solidFill>
                  <a:srgbClr val="000099"/>
                </a:solidFill>
                <a:latin typeface="+mj-ea"/>
              </a:rPr>
              <a:t>四，討論與操作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2000" y="1275606"/>
            <a:ext cx="7543800" cy="2808312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4800"/>
              </a:spcAft>
            </a:pPr>
            <a:r>
              <a:rPr lang="zh-TW" altLang="en-US" sz="2800" b="1" dirty="0">
                <a:solidFill>
                  <a:srgbClr val="000099"/>
                </a:solidFill>
                <a:latin typeface="+mj-ea"/>
                <a:ea typeface="+mj-ea"/>
              </a:rPr>
              <a:t>請在五分鐘內，預備一個見證（不限類別），跟你的同學互相分享。</a:t>
            </a:r>
          </a:p>
        </p:txBody>
      </p:sp>
    </p:spTree>
    <p:extLst>
      <p:ext uri="{BB962C8B-B14F-4D97-AF65-F5344CB8AC3E}">
        <p14:creationId xmlns:p14="http://schemas.microsoft.com/office/powerpoint/2010/main" val="2068879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都會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665</TotalTime>
  <Words>1021</Words>
  <Application>Microsoft Office PowerPoint</Application>
  <PresentationFormat>如螢幕大小 (16:9)</PresentationFormat>
  <Paragraphs>116</Paragraphs>
  <Slides>9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標楷體</vt:lpstr>
      <vt:lpstr>Arial</vt:lpstr>
      <vt:lpstr>Calibri</vt:lpstr>
      <vt:lpstr>Impact</vt:lpstr>
      <vt:lpstr>Times New Roman</vt:lpstr>
      <vt:lpstr>NewsPrint</vt:lpstr>
      <vt:lpstr>如何在幸福小組中作見證？</vt:lpstr>
      <vt:lpstr>使徒行傳一8</vt:lpstr>
      <vt:lpstr>一、幸福小組中作見證的功效.</vt:lpstr>
      <vt:lpstr>二、適合在幸福小組中分享的見證</vt:lpstr>
      <vt:lpstr>三、如何寫見證與分享？</vt:lpstr>
      <vt:lpstr>三、如何寫見證與分享？</vt:lpstr>
      <vt:lpstr>PowerPoint 簡報</vt:lpstr>
      <vt:lpstr>PowerPoint 簡報</vt:lpstr>
      <vt:lpstr>四，討論與操作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幸福小組的領袖</dc:title>
  <dc:creator>APPLE</dc:creator>
  <cp:lastModifiedBy>Walter Lu</cp:lastModifiedBy>
  <cp:revision>44</cp:revision>
  <cp:lastPrinted>2020-09-18T07:57:58Z</cp:lastPrinted>
  <dcterms:created xsi:type="dcterms:W3CDTF">2019-09-19T02:01:59Z</dcterms:created>
  <dcterms:modified xsi:type="dcterms:W3CDTF">2024-03-01T06:43:10Z</dcterms:modified>
</cp:coreProperties>
</file>